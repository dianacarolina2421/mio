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271" r:id="rId3"/>
    <p:sldId id="279" r:id="rId4"/>
    <p:sldId id="280" r:id="rId5"/>
    <p:sldId id="281" r:id="rId6"/>
    <p:sldId id="257" r:id="rId7"/>
    <p:sldId id="282" r:id="rId8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 damos la bienvenida" id="{E75E278A-FF0E-49A4-B170-79828D63BBAD}">
          <p14:sldIdLst>
            <p14:sldId id="256"/>
          </p14:sldIdLst>
        </p14:section>
        <p14:section name="Diseñar, Transformación, Anotar, Trabajar en colaboración, Información" id="{B9B51309-D148-4332-87C2-07BE32FBCA3B}">
          <p14:sldIdLst>
            <p14:sldId id="271"/>
            <p14:sldId id="279"/>
            <p14:sldId id="280"/>
            <p14:sldId id="281"/>
            <p14:sldId id="257"/>
          </p14:sldIdLst>
        </p14:section>
        <p14:section name="Más información" id="{2CC34DB2-6590-42C0-AD4B-A04C6060184E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8" autoAdjust="0"/>
    <p:restoredTop sz="94241" autoAdjust="0"/>
  </p:normalViewPr>
  <p:slideViewPr>
    <p:cSldViewPr snapToGrid="0">
      <p:cViewPr varScale="1">
        <p:scale>
          <a:sx n="86" d="100"/>
          <a:sy n="86" d="100"/>
        </p:scale>
        <p:origin x="60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0B2B5E0-3F7C-4D27-B033-54169BBE3F5A}" type="datetime1">
              <a:rPr lang="es-ES" smtClean="0"/>
              <a:t>10/10/2024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AE0AD-AC8A-40B7-A05F-83C08D0E80A3}" type="datetime1">
              <a:rPr lang="es-ES" smtClean="0"/>
              <a:pPr/>
              <a:t>10/10/2024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0231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8845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5296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6141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4230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es-ES" sz="1800" noProof="0"/>
          </a:p>
        </p:txBody>
      </p:sp>
      <p:cxnSp>
        <p:nvCxnSpPr>
          <p:cNvPr id="12" name="Conector recto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Haga clic para modificar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Quinto nivel</a:t>
            </a:r>
          </a:p>
        </p:txBody>
      </p:sp>
      <p:sp>
        <p:nvSpPr>
          <p:cNvPr id="6" name="Marcador de fecha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7A7F30DA-8663-4794-8A66-1184A9F2D888}" type="datetime1">
              <a:rPr lang="es-ES" noProof="0" smtClean="0"/>
              <a:t>10/10/2024</a:t>
            </a:fld>
            <a:endParaRPr lang="es-ES" noProof="0"/>
          </a:p>
        </p:txBody>
      </p:sp>
      <p:sp>
        <p:nvSpPr>
          <p:cNvPr id="7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8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10" name="Rectángulo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contenido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Haga clic para modificar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es-ES" sz="1800" noProof="0"/>
          </a:p>
        </p:txBody>
      </p:sp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E978C3BE-9016-4208-9F91-C00CEFA51175}" type="datetime1">
              <a:rPr lang="es-ES" noProof="0" smtClean="0"/>
              <a:t>10/10/2024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cxnSp>
        <p:nvCxnSpPr>
          <p:cNvPr id="8" name="Conector recto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hyperlink" Target="http://go.microsoft.com/fwlink/?LinkId=61717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38200" y="1164323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s-ES" sz="4800" dirty="0">
                <a:solidFill>
                  <a:schemeClr val="bg1"/>
                </a:solidFill>
              </a:rPr>
              <a:t>ENTORNOS DE DESAROLLO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3641850" y="5193062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es-ES" sz="2400" dirty="0">
                <a:solidFill>
                  <a:schemeClr val="bg1"/>
                </a:solidFill>
                <a:latin typeface="+mj-lt"/>
              </a:rPr>
              <a:t>DIANA CAROLINA PITA AMADOR </a:t>
            </a:r>
          </a:p>
        </p:txBody>
      </p:sp>
      <p:pic>
        <p:nvPicPr>
          <p:cNvPr id="4" name="Imagen 3" descr="Icono de programa de PowerPoint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2D52ADA-2643-4592-8529-40F47C8BA1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218" y="1763712"/>
            <a:ext cx="1268078" cy="118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Marcador de contenido 17"/>
          <p:cNvSpPr txBox="1">
            <a:spLocks/>
          </p:cNvSpPr>
          <p:nvPr/>
        </p:nvSpPr>
        <p:spPr>
          <a:xfrm>
            <a:off x="654333" y="1493241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Aft>
                <a:spcPts val="600"/>
              </a:spcAft>
              <a:buNone/>
              <a:defRPr/>
            </a:pPr>
            <a:endParaRPr lang="es-E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8A80966-8948-4991-9D75-45B92F2D9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138023"/>
            <a:ext cx="6877119" cy="950113"/>
          </a:xfrm>
        </p:spPr>
        <p:txBody>
          <a:bodyPr>
            <a:normAutofit/>
          </a:bodyPr>
          <a:lstStyle/>
          <a:p>
            <a:r>
              <a:rPr lang="es-ES" u="sng" dirty="0"/>
              <a:t>LA IMPORTANCIA QUE TIENE EL DESARROLLO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3418988-4800-4A94-8B42-3235982DE547}"/>
              </a:ext>
            </a:extLst>
          </p:cNvPr>
          <p:cNvSpPr txBox="1"/>
          <p:nvPr/>
        </p:nvSpPr>
        <p:spPr>
          <a:xfrm>
            <a:off x="654333" y="1635162"/>
            <a:ext cx="592934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1.Desarrollo: </a:t>
            </a:r>
            <a:r>
              <a:rPr lang="es-ES" dirty="0"/>
              <a:t>se generan ideas, se investiga y se diseñan prototipos. Es crucial para asegurar que el producto cumpla con las necesidades del mercado y de los usuarios.</a:t>
            </a:r>
          </a:p>
          <a:p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Introducción</a:t>
            </a:r>
            <a:r>
              <a:rPr lang="es-ES" dirty="0"/>
              <a:t>: el producto se lanza al mercado. Es importante para crear conciencia y atraer a los primeros usuarios</a:t>
            </a:r>
          </a:p>
          <a:p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Crecimiento:</a:t>
            </a:r>
            <a:r>
              <a:rPr lang="es-ES" dirty="0"/>
              <a:t> es vital gestionar la producción y la distribución para satisfacer la demanda</a:t>
            </a:r>
          </a:p>
          <a:p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Madurez: </a:t>
            </a:r>
            <a:r>
              <a:rPr lang="es-ES" dirty="0"/>
              <a:t>El producto alcanza su máximo potencial en el mercado. Es el momento de optimizar costos y buscar nuevas estrategias para mantener el interés de los consumidores</a:t>
            </a:r>
          </a:p>
          <a:p>
            <a:endParaRPr lang="es-ES" dirty="0"/>
          </a:p>
        </p:txBody>
      </p:sp>
      <p:pic>
        <p:nvPicPr>
          <p:cNvPr id="2050" name="Picture 2" descr="¿Qué es un entorno de desarrollo en programación? | ESIC">
            <a:extLst>
              <a:ext uri="{FF2B5EF4-FFF2-40B4-BE49-F238E27FC236}">
                <a16:creationId xmlns:a16="http://schemas.microsoft.com/office/drawing/2014/main" id="{1E362FF4-446D-43DF-96C1-2C288A847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711" y="1283951"/>
            <a:ext cx="5527415" cy="5226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E2D9F41-0E43-4368-93A9-F5628F366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6984" y="5658206"/>
            <a:ext cx="4496696" cy="46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>
                <a:latin typeface="Segoe UI Light" panose="020B0502040204020203" pitchFamily="34" charset="0"/>
                <a:cs typeface="Segoe UI Light" panose="020B0502040204020203" pitchFamily="34" charset="0"/>
              </a:rPr>
              <a:t>LENGUAJE DE ALTO NIVEL </a:t>
            </a:r>
          </a:p>
        </p:txBody>
      </p:sp>
      <p:sp>
        <p:nvSpPr>
          <p:cNvPr id="25" name="Marcador de contenido 17"/>
          <p:cNvSpPr txBox="1">
            <a:spLocks/>
          </p:cNvSpPr>
          <p:nvPr/>
        </p:nvSpPr>
        <p:spPr>
          <a:xfrm>
            <a:off x="541609" y="1455491"/>
            <a:ext cx="7311473" cy="1130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CARACTERISTICAS:</a:t>
            </a:r>
          </a:p>
          <a:p>
            <a:pPr marL="0" indent="0" rtl="0">
              <a:spcAft>
                <a:spcPts val="2000"/>
              </a:spcAft>
              <a:buNone/>
            </a:pPr>
            <a:endParaRPr lang="es-E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8" name="Grupo 17" descr="Círculo pequeño con el número 1 en su interior para indicar que se encuentra en el paso 1"/>
          <p:cNvGrpSpPr/>
          <p:nvPr/>
        </p:nvGrpSpPr>
        <p:grpSpPr bwMode="blackWhite">
          <a:xfrm>
            <a:off x="531552" y="1917997"/>
            <a:ext cx="558179" cy="409838"/>
            <a:chOff x="6953426" y="711274"/>
            <a:chExt cx="558179" cy="409838"/>
          </a:xfrm>
        </p:grpSpPr>
        <p:sp>
          <p:nvSpPr>
            <p:cNvPr id="19" name="Elipse 18" descr="Círculo pequeñ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/>
            </a:p>
          </p:txBody>
        </p:sp>
        <p:sp>
          <p:nvSpPr>
            <p:cNvPr id="20" name="Cuadro de texto 19" descr="Número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s-E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21" name="Marcador de contenido 17"/>
          <p:cNvSpPr txBox="1">
            <a:spLocks/>
          </p:cNvSpPr>
          <p:nvPr/>
        </p:nvSpPr>
        <p:spPr>
          <a:xfrm>
            <a:off x="1056513" y="1802127"/>
            <a:ext cx="5023937" cy="1151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s-ES" dirty="0">
                <a:solidFill>
                  <a:schemeClr val="tx1"/>
                </a:solidFill>
                <a:cs typeface="Segoe UI"/>
              </a:rPr>
              <a:t>ABSTRACTOS  </a:t>
            </a:r>
            <a:r>
              <a:rPr lang="es-ES" b="0" i="0" dirty="0">
                <a:solidFill>
                  <a:schemeClr val="tx1"/>
                </a:solidFill>
                <a:effectLst/>
                <a:latin typeface="Ginto"/>
              </a:rPr>
              <a:t>Los lenguajes de alto nivel y los lenguajes abstractos son términos que a menudo se usan para describir lenguajes de programación que son más </a:t>
            </a:r>
            <a:r>
              <a:rPr lang="es-ES" dirty="0">
                <a:solidFill>
                  <a:schemeClr val="tx1"/>
                </a:solidFill>
                <a:latin typeface="Ginto"/>
              </a:rPr>
              <a:t>fáciles de </a:t>
            </a:r>
            <a:r>
              <a:rPr lang="es-ES" b="0" i="0" dirty="0">
                <a:solidFill>
                  <a:schemeClr val="tx1"/>
                </a:solidFill>
                <a:effectLst/>
                <a:latin typeface="Ginto"/>
              </a:rPr>
              <a:t>entender</a:t>
            </a:r>
            <a:endParaRPr lang="es-ES" dirty="0">
              <a:solidFill>
                <a:schemeClr val="tx1"/>
              </a:solidFill>
              <a:cs typeface="Segoe UI"/>
            </a:endParaRPr>
          </a:p>
        </p:txBody>
      </p:sp>
      <p:grpSp>
        <p:nvGrpSpPr>
          <p:cNvPr id="33" name="Grupo 32" descr="Círculo pequeño con el número 2 en su interior para indicar que se encuentra en el paso 2"/>
          <p:cNvGrpSpPr/>
          <p:nvPr/>
        </p:nvGrpSpPr>
        <p:grpSpPr bwMode="blackWhite">
          <a:xfrm>
            <a:off x="531552" y="2804257"/>
            <a:ext cx="558179" cy="409838"/>
            <a:chOff x="6953426" y="711274"/>
            <a:chExt cx="558179" cy="409838"/>
          </a:xfrm>
        </p:grpSpPr>
        <p:sp>
          <p:nvSpPr>
            <p:cNvPr id="34" name="Elipse 33" descr="Círculo pequeñ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/>
            </a:p>
          </p:txBody>
        </p:sp>
        <p:sp>
          <p:nvSpPr>
            <p:cNvPr id="35" name="Cuadro de texto 34" descr="Número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s-E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36" name="Marcador de contenido 17"/>
          <p:cNvSpPr txBox="1">
            <a:spLocks/>
          </p:cNvSpPr>
          <p:nvPr/>
        </p:nvSpPr>
        <p:spPr>
          <a:xfrm>
            <a:off x="1056513" y="2844450"/>
            <a:ext cx="4827920" cy="1065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2000"/>
              </a:spcAft>
              <a:buNone/>
              <a:defRPr/>
            </a:pPr>
            <a:r>
              <a:rPr lang="es-E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CERCANOS AL LENGUAJE HUMANO </a:t>
            </a:r>
            <a:r>
              <a:rPr lang="es-ES" b="0" i="0" dirty="0">
                <a:solidFill>
                  <a:schemeClr val="tx1"/>
                </a:solidFill>
                <a:effectLst/>
                <a:latin typeface="Ginto"/>
              </a:rPr>
              <a:t>Su sintaxis y estructura hacen que el código sea más fácil de leer y escribir.</a:t>
            </a:r>
            <a:r>
              <a:rPr lang="es-E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grpSp>
        <p:nvGrpSpPr>
          <p:cNvPr id="22" name="Grupo 21" descr="Círculo pequeño con el número 3 en su interior para indicar que se encuentra en el paso 3"/>
          <p:cNvGrpSpPr/>
          <p:nvPr/>
        </p:nvGrpSpPr>
        <p:grpSpPr bwMode="blackWhite">
          <a:xfrm>
            <a:off x="531552" y="4208299"/>
            <a:ext cx="558179" cy="409838"/>
            <a:chOff x="6953426" y="711274"/>
            <a:chExt cx="558179" cy="409838"/>
          </a:xfrm>
        </p:grpSpPr>
        <p:sp>
          <p:nvSpPr>
            <p:cNvPr id="24" name="Elipse 23" descr="Círculo pequeñ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/>
            </a:p>
          </p:txBody>
        </p:sp>
        <p:sp>
          <p:nvSpPr>
            <p:cNvPr id="30" name="Cuadro de texto 29" descr="Número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s-ES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2" name="Marcador de contenido 17"/>
          <p:cNvSpPr txBox="1">
            <a:spLocks/>
          </p:cNvSpPr>
          <p:nvPr/>
        </p:nvSpPr>
        <p:spPr>
          <a:xfrm>
            <a:off x="1056513" y="3668122"/>
            <a:ext cx="4504252" cy="150945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s-ES" sz="2500" b="0" i="0" dirty="0">
                <a:solidFill>
                  <a:schemeClr val="tx1"/>
                </a:solidFill>
                <a:effectLst/>
                <a:latin typeface="Ginto"/>
              </a:rPr>
              <a:t> FACILITAN LA PROGRAMACION 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s-ES" sz="1900" b="0" i="0" dirty="0">
                <a:solidFill>
                  <a:schemeClr val="tx1"/>
                </a:solidFill>
                <a:effectLst/>
                <a:latin typeface="Ginto"/>
              </a:rPr>
              <a:t>simplifican la programación al abstraer detalles complejos del hardware y ofrecer una sintaxis más cercana al lenguaje humano. Eso hace que los desarrolladores se centren en resolver problemas y crear funciones útiles en lugar de lidiar con detalles técnicos.</a:t>
            </a:r>
            <a:endParaRPr lang="es-ES" sz="1900" dirty="0">
              <a:solidFill>
                <a:schemeClr val="tx1"/>
              </a:solidFill>
              <a:cs typeface="Segoe UI"/>
            </a:endParaRPr>
          </a:p>
        </p:txBody>
      </p:sp>
      <p:grpSp>
        <p:nvGrpSpPr>
          <p:cNvPr id="37" name="Grupo 36" descr="Círculo pequeño con el número 4 en su interior para indicar que se encuentra en el paso 4"/>
          <p:cNvGrpSpPr/>
          <p:nvPr/>
        </p:nvGrpSpPr>
        <p:grpSpPr bwMode="blackWhite">
          <a:xfrm>
            <a:off x="531552" y="5137379"/>
            <a:ext cx="558179" cy="409838"/>
            <a:chOff x="6953426" y="711274"/>
            <a:chExt cx="558179" cy="409838"/>
          </a:xfrm>
        </p:grpSpPr>
        <p:sp>
          <p:nvSpPr>
            <p:cNvPr id="38" name="Elipse 37" descr="Círculo pequeñ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/>
            </a:p>
          </p:txBody>
        </p:sp>
        <p:sp>
          <p:nvSpPr>
            <p:cNvPr id="39" name="Cuadro de texto 38" descr="Número 4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s-ES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4</a:t>
              </a:r>
            </a:p>
          </p:txBody>
        </p:sp>
      </p:grpSp>
      <p:sp>
        <p:nvSpPr>
          <p:cNvPr id="40" name="Marcador de contenido 17"/>
          <p:cNvSpPr txBox="1">
            <a:spLocks/>
          </p:cNvSpPr>
          <p:nvPr/>
        </p:nvSpPr>
        <p:spPr>
          <a:xfrm>
            <a:off x="1056513" y="5177572"/>
            <a:ext cx="4504252" cy="563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2000"/>
              </a:spcAft>
              <a:buNone/>
              <a:defRPr/>
            </a:pPr>
            <a:r>
              <a:rPr lang="es-E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SINTASIS FLEXIBLE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E01F4EA-795F-4EB0-9796-98BB1108B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267" y="4236460"/>
            <a:ext cx="1373566" cy="2238070"/>
          </a:xfrm>
          <a:prstGeom prst="rect">
            <a:avLst/>
          </a:prstGeom>
        </p:spPr>
      </p:pic>
      <p:pic>
        <p:nvPicPr>
          <p:cNvPr id="1026" name="Picture 2" descr="Python Programming Language Overview &amp; Why It Is So Popular?">
            <a:extLst>
              <a:ext uri="{FF2B5EF4-FFF2-40B4-BE49-F238E27FC236}">
                <a16:creationId xmlns:a16="http://schemas.microsoft.com/office/drawing/2014/main" id="{E8DBE3E8-A446-4B97-9FBF-F3C7D9BA6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5955" y="1439516"/>
            <a:ext cx="3593412" cy="25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de java programming">
            <a:extLst>
              <a:ext uri="{FF2B5EF4-FFF2-40B4-BE49-F238E27FC236}">
                <a16:creationId xmlns:a16="http://schemas.microsoft.com/office/drawing/2014/main" id="{AD7CBADE-D06E-4EF2-9D8A-496135D8E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148" y="2244577"/>
            <a:ext cx="3082603" cy="188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de C# Official Logo Programming">
            <a:extLst>
              <a:ext uri="{FF2B5EF4-FFF2-40B4-BE49-F238E27FC236}">
                <a16:creationId xmlns:a16="http://schemas.microsoft.com/office/drawing/2014/main" id="{C250470D-C266-49D5-83B1-C86BD3352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195" y="4443120"/>
            <a:ext cx="618208" cy="618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JavaScript logo and symbol, meaning, history, PNG">
            <a:extLst>
              <a:ext uri="{FF2B5EF4-FFF2-40B4-BE49-F238E27FC236}">
                <a16:creationId xmlns:a16="http://schemas.microsoft.com/office/drawing/2014/main" id="{27A815D3-6013-44FF-A86F-78B07A77E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1448" y="4728001"/>
            <a:ext cx="2665420" cy="166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Marcador de contenido 17"/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endParaRPr lang="es-ES" dirty="0"/>
          </a:p>
        </p:txBody>
      </p:sp>
      <p:grpSp>
        <p:nvGrpSpPr>
          <p:cNvPr id="13" name="Grupo 12" descr="Círculo pequeño con el número 1 en su interior para indicar que se encuentra en el paso 1"/>
          <p:cNvGrpSpPr/>
          <p:nvPr/>
        </p:nvGrpSpPr>
        <p:grpSpPr bwMode="blackWhite">
          <a:xfrm>
            <a:off x="70783" y="2403144"/>
            <a:ext cx="558179" cy="409838"/>
            <a:chOff x="6953426" y="711274"/>
            <a:chExt cx="558179" cy="409838"/>
          </a:xfrm>
        </p:grpSpPr>
        <p:sp>
          <p:nvSpPr>
            <p:cNvPr id="14" name="Elipse 13" descr="Círculo pequeñ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/>
            </a:p>
          </p:txBody>
        </p:sp>
        <p:sp>
          <p:nvSpPr>
            <p:cNvPr id="15" name="Cuadro de texto 14" descr="Número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s-E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16" name="Marcador de contenido 17"/>
          <p:cNvSpPr txBox="1">
            <a:spLocks/>
          </p:cNvSpPr>
          <p:nvPr/>
        </p:nvSpPr>
        <p:spPr>
          <a:xfrm>
            <a:off x="2173678" y="1936841"/>
            <a:ext cx="2486328" cy="978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endParaRPr lang="es-ES" sz="11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8" name="Grupo 17" descr="Círculo pequeño con el número 2 en su interior para indicar que se encuentra en el paso 2"/>
          <p:cNvGrpSpPr/>
          <p:nvPr/>
        </p:nvGrpSpPr>
        <p:grpSpPr bwMode="blackWhite">
          <a:xfrm>
            <a:off x="128335" y="3521015"/>
            <a:ext cx="558179" cy="409838"/>
            <a:chOff x="6953426" y="711274"/>
            <a:chExt cx="558179" cy="409838"/>
          </a:xfrm>
        </p:grpSpPr>
        <p:sp>
          <p:nvSpPr>
            <p:cNvPr id="23" name="Elipse 22" descr="Círculo pequeñ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/>
            </a:p>
          </p:txBody>
        </p:sp>
        <p:sp>
          <p:nvSpPr>
            <p:cNvPr id="24" name="Cuadro de texto 23" descr="Número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s-E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25" name="Marcador de contenido 17"/>
          <p:cNvSpPr txBox="1">
            <a:spLocks/>
          </p:cNvSpPr>
          <p:nvPr/>
        </p:nvSpPr>
        <p:spPr>
          <a:xfrm>
            <a:off x="1066038" y="2983107"/>
            <a:ext cx="2651153" cy="1456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endParaRPr lang="es-E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6" name="Grupo 25" descr="Círculo pequeño con el número 3 en su interior para indicar que se encuentra en el paso 3"/>
          <p:cNvGrpSpPr/>
          <p:nvPr/>
        </p:nvGrpSpPr>
        <p:grpSpPr bwMode="blackWhite">
          <a:xfrm>
            <a:off x="149002" y="5285811"/>
            <a:ext cx="558179" cy="409838"/>
            <a:chOff x="6953426" y="711274"/>
            <a:chExt cx="558179" cy="409838"/>
          </a:xfrm>
        </p:grpSpPr>
        <p:sp>
          <p:nvSpPr>
            <p:cNvPr id="27" name="Elipse 26" descr="Círculo pequeñ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/>
            </a:p>
          </p:txBody>
        </p:sp>
        <p:sp>
          <p:nvSpPr>
            <p:cNvPr id="28" name="Cuadro de texto 27" descr="Número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s-E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29" name="Marcador de contenido 17"/>
          <p:cNvSpPr txBox="1">
            <a:spLocks/>
          </p:cNvSpPr>
          <p:nvPr/>
        </p:nvSpPr>
        <p:spPr>
          <a:xfrm>
            <a:off x="1076799" y="4480589"/>
            <a:ext cx="2784602" cy="13275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endParaRPr lang="es-ES" sz="11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Marcador de contenido 17"/>
          <p:cNvSpPr txBox="1">
            <a:spLocks/>
          </p:cNvSpPr>
          <p:nvPr/>
        </p:nvSpPr>
        <p:spPr>
          <a:xfrm>
            <a:off x="628962" y="5832234"/>
            <a:ext cx="3449878" cy="7470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endParaRPr lang="es-ES" sz="11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cxnSp>
        <p:nvCxnSpPr>
          <p:cNvPr id="20" name="Conector recto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296866" y="147243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 descr="Círculo grande de color azul con un círculo pequeño de color azul claro en el interior"/>
          <p:cNvSpPr/>
          <p:nvPr/>
        </p:nvSpPr>
        <p:spPr>
          <a:xfrm>
            <a:off x="6993168" y="1739438"/>
            <a:ext cx="3827244" cy="374323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Elipse 10" descr="Círculo pequeño de color azul claro en el interior de un círculo grande de color azul marino"/>
          <p:cNvSpPr/>
          <p:nvPr/>
        </p:nvSpPr>
        <p:spPr bwMode="ltGray">
          <a:xfrm>
            <a:off x="6475520" y="1375329"/>
            <a:ext cx="2148929" cy="210175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D81E046C-D3C1-48B4-8F72-F88B3A70E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LENGUAJE DE BAJO NIVEL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E6130EE-8E23-46FA-9B2C-DE3E106ADBE1}"/>
              </a:ext>
            </a:extLst>
          </p:cNvPr>
          <p:cNvSpPr txBox="1"/>
          <p:nvPr/>
        </p:nvSpPr>
        <p:spPr>
          <a:xfrm>
            <a:off x="628962" y="1564640"/>
            <a:ext cx="5467034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Características de los lenguajes de bajo nivel</a:t>
            </a:r>
          </a:p>
          <a:p>
            <a:endParaRPr lang="es-ES" dirty="0"/>
          </a:p>
          <a:p>
            <a:r>
              <a:rPr lang="es-ES" sz="1400" dirty="0"/>
              <a:t>Cercanos al hardware: Proporcionan poco o ningún nivel de abstracción.</a:t>
            </a:r>
          </a:p>
          <a:p>
            <a:endParaRPr lang="es-ES" sz="1400" dirty="0"/>
          </a:p>
          <a:p>
            <a:r>
              <a:rPr lang="es-ES" sz="1400" dirty="0"/>
              <a:t>Rápidos y eficientes: Ofrecen un control preciso sobre los recursos de la máquina.</a:t>
            </a:r>
          </a:p>
          <a:p>
            <a:endParaRPr lang="es-ES" sz="1400" dirty="0"/>
          </a:p>
          <a:p>
            <a:r>
              <a:rPr lang="es-ES" sz="1400" dirty="0"/>
              <a:t>Complejidad: Más difíciles de escribir y mantener debido a su sintaxis y estructura.</a:t>
            </a:r>
          </a:p>
          <a:p>
            <a:endParaRPr lang="es-ES" sz="1400" dirty="0"/>
          </a:p>
          <a:p>
            <a:r>
              <a:rPr lang="es-ES" sz="1400" dirty="0"/>
              <a:t>Ejemplos de lenguajes de bajo nivel</a:t>
            </a:r>
          </a:p>
          <a:p>
            <a:r>
              <a:rPr lang="es-ES" sz="1400" dirty="0"/>
              <a:t>Lenguaje Ensamblador (</a:t>
            </a:r>
            <a:r>
              <a:rPr lang="es-ES" sz="1400" dirty="0" err="1"/>
              <a:t>Assembly</a:t>
            </a:r>
            <a:r>
              <a:rPr lang="es-ES" sz="1400" dirty="0"/>
              <a:t>): Utiliza instrucciones específicas de la arquitectura del procesador. Cada línea de código ensamblador se traduce directamente a instrucciones de máquina.</a:t>
            </a:r>
          </a:p>
          <a:p>
            <a:endParaRPr lang="es-ES" sz="1400" dirty="0"/>
          </a:p>
          <a:p>
            <a:r>
              <a:rPr lang="es-ES" sz="1400" dirty="0"/>
              <a:t>Código Máquina: El lenguaje más básico, comprendido directamente por el procesador. Compuesto por secuencias de 0s y 1s (binario</a:t>
            </a:r>
            <a:r>
              <a:rPr lang="es-E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>
                <a:latin typeface="Segoe UI Light" panose="020B0502040204020203" pitchFamily="34" charset="0"/>
                <a:cs typeface="Segoe UI Light" panose="020B0502040204020203" pitchFamily="34" charset="0"/>
              </a:rPr>
              <a:t>USO DE CICLO DE VIDA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6FD4233-5C99-4F7A-8EA1-F47653820DED}"/>
              </a:ext>
            </a:extLst>
          </p:cNvPr>
          <p:cNvSpPr txBox="1"/>
          <p:nvPr/>
        </p:nvSpPr>
        <p:spPr>
          <a:xfrm>
            <a:off x="634701" y="1540565"/>
            <a:ext cx="44321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CARACTERISTICAS:</a:t>
            </a:r>
          </a:p>
          <a:p>
            <a:endParaRPr lang="es-E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AGIL :se utilizan en entornos fáciles, donde la flexibilidad y la intención son la  clave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Interactivo: permite revisiones continuas a medida que se desarrolla el software</a:t>
            </a:r>
          </a:p>
          <a:p>
            <a:endParaRPr lang="es-E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ADAPTACION RAPIDA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DC46EAF-F8E6-4B57-A3AD-0CBA07D50B15}"/>
              </a:ext>
            </a:extLst>
          </p:cNvPr>
          <p:cNvSpPr txBox="1"/>
          <p:nvPr/>
        </p:nvSpPr>
        <p:spPr>
          <a:xfrm>
            <a:off x="5615492" y="1540565"/>
            <a:ext cx="639004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0" i="0" dirty="0">
                <a:effectLst/>
                <a:highlight>
                  <a:srgbClr val="FFFF00"/>
                </a:highlight>
                <a:latin typeface="Ginto"/>
              </a:rPr>
              <a:t>El ciclo de vida en cascada </a:t>
            </a:r>
            <a:r>
              <a:rPr lang="es-ES" sz="1400" b="0" i="0" dirty="0">
                <a:effectLst/>
                <a:latin typeface="Ginto"/>
              </a:rPr>
              <a:t>(</a:t>
            </a:r>
            <a:r>
              <a:rPr lang="es-ES" sz="1400" b="0" i="0" dirty="0" err="1">
                <a:effectLst/>
                <a:latin typeface="Ginto"/>
              </a:rPr>
              <a:t>Waterfall</a:t>
            </a:r>
            <a:r>
              <a:rPr lang="es-ES" sz="1400" b="0" i="0" dirty="0">
                <a:effectLst/>
                <a:latin typeface="Ginto"/>
              </a:rPr>
              <a:t>) es un modelo de desarrollo de software que sigue una secuencia lineal y rígida de fases.  Este modelo se considera de "bajo nivel" en términos de gestión de cambios y flexibilidad.</a:t>
            </a:r>
          </a:p>
          <a:p>
            <a:endParaRPr lang="es-ES" sz="1400" dirty="0">
              <a:latin typeface="Ginto"/>
            </a:endParaRPr>
          </a:p>
          <a:p>
            <a:pPr algn="l"/>
            <a:r>
              <a:rPr lang="es-ES" sz="1400" b="1" i="0" dirty="0">
                <a:effectLst/>
                <a:latin typeface="Ginto"/>
              </a:rPr>
              <a:t>Características del Ciclo de Vida en Cascada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400" b="1" i="0" dirty="0">
                <a:effectLst/>
                <a:latin typeface="Ginto"/>
              </a:rPr>
              <a:t>Secuencial</a:t>
            </a:r>
            <a:r>
              <a:rPr lang="es-ES" sz="1400" b="0" i="0" dirty="0">
                <a:effectLst/>
                <a:latin typeface="Ginto"/>
              </a:rPr>
              <a:t>: Cada fase debe completarse antes de pasar a la siguiente.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400" b="1" i="0" dirty="0">
                <a:effectLst/>
                <a:latin typeface="Ginto"/>
              </a:rPr>
              <a:t>Rígido</a:t>
            </a:r>
            <a:r>
              <a:rPr lang="es-ES" sz="1400" b="0" i="0" dirty="0">
                <a:effectLst/>
                <a:latin typeface="Ginto"/>
              </a:rPr>
              <a:t>: Poca flexibilidad para cambios una vez que se ha comenzado una fase.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400" b="1" i="0" dirty="0">
                <a:effectLst/>
                <a:latin typeface="Ginto"/>
              </a:rPr>
              <a:t>Documentación Extensiva</a:t>
            </a:r>
            <a:r>
              <a:rPr lang="es-ES" sz="1400" b="0" i="0" dirty="0">
                <a:effectLst/>
                <a:latin typeface="Ginto"/>
              </a:rPr>
              <a:t>: Cada fase requiere una documentación detallada que se utiliza como base para la siguiente.</a:t>
            </a:r>
          </a:p>
          <a:p>
            <a:endParaRPr lang="es-ES" sz="1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05E2D1-C32C-4F26-857F-14B49E511E78}"/>
              </a:ext>
            </a:extLst>
          </p:cNvPr>
          <p:cNvSpPr txBox="1"/>
          <p:nvPr/>
        </p:nvSpPr>
        <p:spPr>
          <a:xfrm>
            <a:off x="5615492" y="3941222"/>
            <a:ext cx="6390042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 b="0" i="0" dirty="0">
                <a:effectLst/>
                <a:highlight>
                  <a:srgbClr val="FFFF00"/>
                </a:highlight>
                <a:latin typeface="Ginto"/>
              </a:rPr>
              <a:t>MODELO V</a:t>
            </a:r>
          </a:p>
          <a:p>
            <a:pPr algn="l"/>
            <a:r>
              <a:rPr lang="es-ES" sz="1400" b="0" i="0" dirty="0">
                <a:effectLst/>
                <a:latin typeface="Ginto"/>
              </a:rPr>
              <a:t>El modelo V es otro enfoque en el ciclo de vida del desarrollo de software, y se centra en la verificación y validación del sistema. Imagina una "V" donde la izquierda representa la definición y diseño, y la derecha la verificación y validación.</a:t>
            </a:r>
          </a:p>
          <a:p>
            <a:pPr algn="l"/>
            <a:endParaRPr lang="es-ES" sz="1400" b="1" i="0" dirty="0">
              <a:effectLst/>
              <a:latin typeface="Ginto"/>
            </a:endParaRPr>
          </a:p>
          <a:p>
            <a:pPr algn="l"/>
            <a:r>
              <a:rPr lang="es-ES" sz="1400" b="1" i="0" dirty="0">
                <a:effectLst/>
                <a:latin typeface="Ginto"/>
              </a:rPr>
              <a:t>Beneficios del Modelo V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400" b="1" i="0" dirty="0">
                <a:effectLst/>
                <a:latin typeface="Ginto"/>
              </a:rPr>
              <a:t>Reducción de Riesgos</a:t>
            </a:r>
            <a:r>
              <a:rPr lang="es-ES" sz="1400" b="0" i="0" dirty="0">
                <a:effectLst/>
                <a:latin typeface="Ginto"/>
              </a:rPr>
              <a:t>: Identificación y corrección temprana de errores.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400" b="1" i="0" dirty="0">
                <a:effectLst/>
                <a:latin typeface="Ginto"/>
              </a:rPr>
              <a:t>Alta Calidad</a:t>
            </a:r>
            <a:r>
              <a:rPr lang="es-ES" sz="1400" b="0" i="0" dirty="0">
                <a:effectLst/>
                <a:latin typeface="Ginto"/>
              </a:rPr>
              <a:t>: Mayor enfoque en la verificación y validación, asegurando un producto final de alta calidad.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400" b="1" i="0" dirty="0">
                <a:effectLst/>
                <a:latin typeface="Ginto"/>
              </a:rPr>
              <a:t>Trazabilidad Completa</a:t>
            </a:r>
            <a:r>
              <a:rPr lang="es-ES" sz="1400" b="0" i="0" dirty="0">
                <a:effectLst/>
                <a:latin typeface="Ginto"/>
              </a:rPr>
              <a:t>: Fácil seguimiento desde los requisitos hasta las pruebas finales.</a:t>
            </a:r>
          </a:p>
          <a:p>
            <a:endParaRPr lang="es-ES" dirty="0"/>
          </a:p>
        </p:txBody>
      </p:sp>
      <p:pic>
        <p:nvPicPr>
          <p:cNvPr id="3074" name="Picture 2" descr="Ciclo de vida en &quot;V&quot; - INGENIERIA DE SOFTWARE">
            <a:extLst>
              <a:ext uri="{FF2B5EF4-FFF2-40B4-BE49-F238E27FC236}">
                <a16:creationId xmlns:a16="http://schemas.microsoft.com/office/drawing/2014/main" id="{F7E62899-332E-4C1A-A234-5EFE8F5D3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821" y="3429000"/>
            <a:ext cx="3406849" cy="3275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lvl="0" rtl="0"/>
            <a:r>
              <a:rPr lang="es-ES" dirty="0">
                <a:latin typeface="Segoe UI Light" panose="020B0502040204020203" pitchFamily="34" charset="0"/>
                <a:cs typeface="Segoe UI Light" panose="020B0502040204020203" pitchFamily="34" charset="0"/>
              </a:rPr>
              <a:t>TIPOS DE ENTORNO DE DESARROLLO</a:t>
            </a:r>
          </a:p>
        </p:txBody>
      </p:sp>
      <p:sp>
        <p:nvSpPr>
          <p:cNvPr id="5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431010"/>
            <a:ext cx="3779134" cy="2872049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algn="l"/>
            <a:r>
              <a:rPr lang="es-ES" b="1" i="0" dirty="0">
                <a:effectLst/>
                <a:latin typeface="Ginto"/>
              </a:rPr>
              <a:t>Entornos de Desarrollo Integrado (</a:t>
            </a:r>
            <a:r>
              <a:rPr lang="es-ES" b="1" i="0" dirty="0" err="1">
                <a:effectLst/>
                <a:latin typeface="Ginto"/>
              </a:rPr>
              <a:t>IDEs</a:t>
            </a:r>
            <a:r>
              <a:rPr lang="es-ES" b="1" i="0" dirty="0">
                <a:effectLst/>
                <a:latin typeface="Ginto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effectLst/>
                <a:latin typeface="Ginto"/>
              </a:rPr>
              <a:t>Visual Studio</a:t>
            </a:r>
            <a:r>
              <a:rPr lang="es-ES" b="0" i="0" dirty="0">
                <a:effectLst/>
                <a:latin typeface="Ginto"/>
              </a:rPr>
              <a:t>: Ideal para desarrollos en .NET y lenguajes como C#.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effectLst/>
                <a:latin typeface="Ginto"/>
              </a:rPr>
              <a:t>IntelliJ IDEA</a:t>
            </a:r>
            <a:r>
              <a:rPr lang="es-ES" b="0" i="0" dirty="0">
                <a:effectLst/>
                <a:latin typeface="Ginto"/>
              </a:rPr>
              <a:t>: Muy popular para el desarrollo en Java.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 err="1">
                <a:effectLst/>
                <a:latin typeface="Ginto"/>
              </a:rPr>
              <a:t>PyCharm</a:t>
            </a:r>
            <a:r>
              <a:rPr lang="es-ES" b="0" i="0" dirty="0">
                <a:effectLst/>
                <a:latin typeface="Ginto"/>
              </a:rPr>
              <a:t>: Especializado en desarrollo en Python.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dirty="0">
                <a:latin typeface="Ginto"/>
              </a:rPr>
              <a:t>CARACTERISTICAS :Editores de código , herramientas de depuración ,compiladores </a:t>
            </a:r>
            <a:endParaRPr lang="es-ES" b="0" i="0" dirty="0">
              <a:effectLst/>
              <a:latin typeface="Ginto"/>
            </a:endParaRP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2000"/>
              </a:spcAft>
              <a:buNone/>
            </a:pPr>
            <a:endParaRPr lang="es-ES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3" name="Grupo 32" descr="Círculo pequeño con el número 1 en su interior para indicar que se encuentra en el paso 1"/>
          <p:cNvGrpSpPr/>
          <p:nvPr/>
        </p:nvGrpSpPr>
        <p:grpSpPr bwMode="blackWhite">
          <a:xfrm>
            <a:off x="1787366" y="4098140"/>
            <a:ext cx="558179" cy="409838"/>
            <a:chOff x="6953426" y="711274"/>
            <a:chExt cx="558179" cy="409838"/>
          </a:xfrm>
        </p:grpSpPr>
        <p:sp>
          <p:nvSpPr>
            <p:cNvPr id="34" name="Elipse 33" descr="Círculo pequeñ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/>
            </a:p>
          </p:txBody>
        </p:sp>
        <p:sp>
          <p:nvSpPr>
            <p:cNvPr id="35" name="Cuadro de texto 34" descr="Número 1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s-E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42" name="Marcador de contenido 17"/>
          <p:cNvSpPr txBox="1">
            <a:spLocks/>
          </p:cNvSpPr>
          <p:nvPr/>
        </p:nvSpPr>
        <p:spPr>
          <a:xfrm>
            <a:off x="1066039" y="4571824"/>
            <a:ext cx="2696774" cy="1727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endParaRPr lang="es-E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6" name="Grupo 35" descr="Círculo pequeño con el número 2 en su interior para indicar que se encuentra en el paso 2"/>
          <p:cNvGrpSpPr/>
          <p:nvPr/>
        </p:nvGrpSpPr>
        <p:grpSpPr bwMode="blackWhite">
          <a:xfrm>
            <a:off x="5816910" y="4114430"/>
            <a:ext cx="558179" cy="409838"/>
            <a:chOff x="6953426" y="711274"/>
            <a:chExt cx="558179" cy="409838"/>
          </a:xfrm>
        </p:grpSpPr>
        <p:sp>
          <p:nvSpPr>
            <p:cNvPr id="37" name="Elipse 36" descr="Círculo pequeñ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/>
            </a:p>
          </p:txBody>
        </p:sp>
        <p:sp>
          <p:nvSpPr>
            <p:cNvPr id="38" name="Cuadro de texto 37" descr="Número 2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s-ES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43" name="Marcador de contenido 17"/>
          <p:cNvSpPr txBox="1">
            <a:spLocks/>
          </p:cNvSpPr>
          <p:nvPr/>
        </p:nvSpPr>
        <p:spPr>
          <a:xfrm>
            <a:off x="4747855" y="4571824"/>
            <a:ext cx="3106367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es-E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...</a:t>
            </a:r>
          </a:p>
        </p:txBody>
      </p:sp>
      <p:grpSp>
        <p:nvGrpSpPr>
          <p:cNvPr id="39" name="Grupo 38" descr="Círculo pequeño con el número 3 en su interior para indicar que se encuentra en el paso 3"/>
          <p:cNvGrpSpPr/>
          <p:nvPr/>
        </p:nvGrpSpPr>
        <p:grpSpPr bwMode="blackWhite">
          <a:xfrm>
            <a:off x="9715705" y="4163297"/>
            <a:ext cx="558179" cy="409838"/>
            <a:chOff x="6950898" y="711274"/>
            <a:chExt cx="558179" cy="409838"/>
          </a:xfrm>
        </p:grpSpPr>
        <p:sp>
          <p:nvSpPr>
            <p:cNvPr id="40" name="Elipse 39" descr="Círculo pequeñ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/>
            </a:p>
          </p:txBody>
        </p:sp>
        <p:sp>
          <p:nvSpPr>
            <p:cNvPr id="41" name="Cuadro de texto 40" descr="Número 3"/>
            <p:cNvSpPr txBox="1"/>
            <p:nvPr/>
          </p:nvSpPr>
          <p:spPr bwMode="blackWhite">
            <a:xfrm>
              <a:off x="6950898" y="751780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s-E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44" name="Marcador de contenido 17"/>
          <p:cNvSpPr txBox="1">
            <a:spLocks/>
          </p:cNvSpPr>
          <p:nvPr/>
        </p:nvSpPr>
        <p:spPr>
          <a:xfrm>
            <a:off x="8429668" y="4571824"/>
            <a:ext cx="2658635" cy="69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endParaRPr lang="es-E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B6CF228-8F01-4334-A39E-AF839375CB7A}"/>
              </a:ext>
            </a:extLst>
          </p:cNvPr>
          <p:cNvSpPr txBox="1"/>
          <p:nvPr/>
        </p:nvSpPr>
        <p:spPr>
          <a:xfrm>
            <a:off x="4588561" y="1364365"/>
            <a:ext cx="3414003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600" b="1" i="0" dirty="0">
                <a:effectLst/>
                <a:latin typeface="Ginto"/>
              </a:rPr>
              <a:t>Editores de Código </a:t>
            </a:r>
          </a:p>
          <a:p>
            <a:pPr algn="l"/>
            <a:endParaRPr lang="es-ES" sz="1600" b="1" i="0" dirty="0">
              <a:effectLst/>
              <a:latin typeface="Gint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600" b="1" i="0" dirty="0">
                <a:effectLst/>
                <a:latin typeface="Ginto"/>
              </a:rPr>
              <a:t>Visual Studio </a:t>
            </a:r>
            <a:r>
              <a:rPr lang="es-ES" sz="1600" b="1" i="0" dirty="0" err="1">
                <a:effectLst/>
                <a:latin typeface="Ginto"/>
              </a:rPr>
              <a:t>Code</a:t>
            </a:r>
            <a:r>
              <a:rPr lang="es-ES" sz="1600" b="0" i="0" dirty="0">
                <a:effectLst/>
                <a:latin typeface="Ginto"/>
              </a:rPr>
              <a:t>: Muy flexible y extensible, soporta múltiples lenguajes.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sz="1600" b="0" i="0" dirty="0">
              <a:effectLst/>
              <a:latin typeface="Gint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600" b="1" i="0" dirty="0">
                <a:effectLst/>
                <a:latin typeface="Ginto"/>
              </a:rPr>
              <a:t>Sublime Text</a:t>
            </a:r>
            <a:r>
              <a:rPr lang="es-ES" sz="1600" b="0" i="0" dirty="0">
                <a:effectLst/>
                <a:latin typeface="Ginto"/>
              </a:rPr>
              <a:t>: Rápido y personalizable, soporta muchos lenguajes.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sz="1600" b="0" i="0" dirty="0">
              <a:effectLst/>
              <a:latin typeface="Gint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600" b="1" i="0" dirty="0" err="1">
                <a:effectLst/>
                <a:latin typeface="Ginto"/>
              </a:rPr>
              <a:t>Atom</a:t>
            </a:r>
            <a:r>
              <a:rPr lang="es-ES" sz="1600" b="0" i="0" dirty="0">
                <a:effectLst/>
                <a:latin typeface="Ginto"/>
              </a:rPr>
              <a:t>: Creado por GitHub, es altamente personalizable.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BB1C73-D31C-4892-B3D2-F5902A6245D7}"/>
              </a:ext>
            </a:extLst>
          </p:cNvPr>
          <p:cNvSpPr txBox="1"/>
          <p:nvPr/>
        </p:nvSpPr>
        <p:spPr>
          <a:xfrm>
            <a:off x="8496013" y="1582044"/>
            <a:ext cx="287237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 b="1" i="0" dirty="0">
                <a:effectLst/>
                <a:latin typeface="Ginto"/>
              </a:rPr>
              <a:t>Plataformas de Desarrollo en la Nube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400" b="1" i="0" dirty="0">
                <a:effectLst/>
                <a:latin typeface="Ginto"/>
              </a:rPr>
              <a:t>AWS Cloud9</a:t>
            </a:r>
            <a:r>
              <a:rPr lang="es-ES" sz="1400" b="0" i="0" dirty="0">
                <a:effectLst/>
                <a:latin typeface="Ginto"/>
              </a:rPr>
              <a:t>: Entorno de desarrollo en la nube con soporte para varios lenguajes.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400" b="1" i="0" dirty="0">
                <a:effectLst/>
                <a:latin typeface="Ginto"/>
              </a:rPr>
              <a:t>Google Cloud Shell</a:t>
            </a:r>
            <a:r>
              <a:rPr lang="es-ES" sz="1400" b="0" i="0" dirty="0">
                <a:effectLst/>
                <a:latin typeface="Ginto"/>
              </a:rPr>
              <a:t>: Entorno de línea de comandos accesible desde cualquier lugar.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s-ES" sz="1400" b="0" i="0" dirty="0">
                <a:effectLst/>
                <a:latin typeface="Ginto"/>
              </a:rPr>
              <a:t> CARACTERISTICAS :Desarrollo colaborativo en el tiempo real.</a:t>
            </a:r>
          </a:p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521208" y="1536192"/>
            <a:ext cx="9546428" cy="640080"/>
          </a:xfrm>
        </p:spPr>
        <p:txBody>
          <a:bodyPr rtlCol="0">
            <a:normAutofit/>
          </a:bodyPr>
          <a:lstStyle/>
          <a:p>
            <a:pPr rtl="0"/>
            <a:endParaRPr lang="es-E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" name="Imagen 1" descr="Botón Informació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02281" y="312989"/>
            <a:ext cx="1268511" cy="1189747"/>
          </a:xfrm>
          <a:prstGeom prst="rect">
            <a:avLst/>
          </a:prstGeom>
        </p:spPr>
      </p:pic>
      <p:pic>
        <p:nvPicPr>
          <p:cNvPr id="8" name="Imagen 7" descr="Flecha apuntando a la derecha con un hipervínculo al blog del equipo de PowerPoint. Seleccione la imagen para visitar el blog del equipo de PowerPoint ">
            <a:hlinkClick r:id="rId4" tooltip="Seleccione aquí para visitar el blog del equipo de PowerPoint.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5411" y="3179529"/>
            <a:ext cx="661940" cy="661940"/>
          </a:xfrm>
          <a:prstGeom prst="rect">
            <a:avLst/>
          </a:prstGeom>
        </p:spPr>
      </p:pic>
      <p:pic>
        <p:nvPicPr>
          <p:cNvPr id="4100" name="Picture 4" descr="Diapositiva final para presentaciones fotografías e imágenes de alta ...">
            <a:extLst>
              <a:ext uri="{FF2B5EF4-FFF2-40B4-BE49-F238E27FC236}">
                <a16:creationId xmlns:a16="http://schemas.microsoft.com/office/drawing/2014/main" id="{7DDDD374-C08C-46C3-A30C-2B48F9CAF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82880"/>
            <a:ext cx="12191999" cy="7239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34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{6D3DF51D-EACE-47DD-B101-B64A95ABC44B}tf10001108_win32</Template>
  <TotalTime>62</TotalTime>
  <Words>709</Words>
  <Application>Microsoft Office PowerPoint</Application>
  <PresentationFormat>Panorámica</PresentationFormat>
  <Paragraphs>83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Arial</vt:lpstr>
      <vt:lpstr>Calibri</vt:lpstr>
      <vt:lpstr>Ginto</vt:lpstr>
      <vt:lpstr>Segoe UI</vt:lpstr>
      <vt:lpstr>Segoe UI Light</vt:lpstr>
      <vt:lpstr>Segoe UI Semibold</vt:lpstr>
      <vt:lpstr>Personalizado</vt:lpstr>
      <vt:lpstr>ENTORNOS DE DESAROLLO</vt:lpstr>
      <vt:lpstr>LA IMPORTANCIA QUE TIENE EL DESARROLLO </vt:lpstr>
      <vt:lpstr>LENGUAJE DE ALTO NIVEL </vt:lpstr>
      <vt:lpstr>LENGUAJE DE BAJO NIVEL </vt:lpstr>
      <vt:lpstr>USO DE CICLO DE VIDA </vt:lpstr>
      <vt:lpstr>TIPOS DE ENTORNO DE DESARROLLO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ENTORNOS DE DESAROLLO</dc:title>
  <dc:creator>anthony</dc:creator>
  <cp:keywords/>
  <cp:lastModifiedBy>anthony</cp:lastModifiedBy>
  <cp:revision>7</cp:revision>
  <dcterms:created xsi:type="dcterms:W3CDTF">2024-10-10T20:56:37Z</dcterms:created>
  <dcterms:modified xsi:type="dcterms:W3CDTF">2024-10-10T21:59:06Z</dcterms:modified>
  <cp:version/>
</cp:coreProperties>
</file>